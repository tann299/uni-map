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Mức đóng góp</c:v>
                </c:pt>
              </c:strCache>
            </c:strRef>
          </c:tx>
          <c:spPr>
            <a:solidFill>
              <a:srgbClr val="990000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E284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margin</c:v>
                  </c:pt>
                  <c:pt idx="1">
                    <c:v>diem_thi</c:v>
                  </c:pt>
                  <c:pt idx="2">
                    <c:v>diem_moi_nhat</c:v>
                  </c:pt>
                  <c:pt idx="3">
                    <c:v>diem_tb</c:v>
                  </c:pt>
                  <c:pt idx="4">
                    <c:v>bien_dong</c:v>
                  </c:pt>
                  <c:pt idx="5">
                    <c:v>xu_huong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0.606</c:v>
                </c:pt>
                <c:pt idx="1">
                  <c:v>0.2181</c:v>
                </c:pt>
                <c:pt idx="2">
                  <c:v>0.0509</c:v>
                </c:pt>
                <c:pt idx="3">
                  <c:v>0.0425</c:v>
                </c:pt>
                <c:pt idx="4">
                  <c:v>0.0164</c:v>
                </c:pt>
                <c:pt idx="5">
                  <c:v>0.0164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100" u="none">
                  <a:solidFill>
                    <a:srgbClr val="0E284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E284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Chào thầy cô và các bạn. Em là Nguyễn Ngọc Tân, lớp 23CT1. Hôm nay em trình bày đồ án: Hệ thống gợi ý nguyện vọng đại học bằng trí tuệ nhân tạo — Uni Connect, dưới sự hướng dẫn của TS. Đỗ Phúc Hảo.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Vấn đề đặt ra: dữ liệu phân tán, thiếu công cụ phân tích định lượng rủi ro, và chiến lược đặt nguyện vọng cảm tính. Mỗi mùa có gần 1 triệu thí sinh, đặt không giới hạn nguyện vọng nhưng chỉ đỗ 1 — sai lầm rất đắt.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Bốn mục tiêu: dữ liệu, mô hình AI, phân tầng giải thích, và ứng dụng web. Cột phải là kết quả thực tế — cả 4 mục tiêu đều đạt, mục tiêu dữ liệu vượt mức.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Phần 2: thiết kế hệ thống — kiến trúc tổng thể, cơ sở dữ liệu và bộ đặc trưng của mô hình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Kiến trúc 4 tầng khép kín: thu thập, CSDL, mô hình AI, ứng dụng web. Điểm nhấn: cơ chế dự phòng — khi mô hình lỗi, hệ thống xếp hạng theo margin và báo rõ trạng thái, không bao giờ sập.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Năm con số cốt lõi của CSDL. Điểm thiết kế nổi bật: bảng cửa sổ năm cho phép cập nhật dữ liệu hằng năm chỉ bằng giao diện — hệ thống tự trượt, không phải ALTER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Phần 3: cách huấn luyện mô hình và kết quả thực nghiệm trên tập kiểm thử độc lập.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Vector 27 chiều gồm 7 đặc trưng số, 15 one-hot nhóm ngành, 3 vùng miền, 2 phương thức. Nhãn huấn luyện sinh giả lập đối xứng quanh điểm chuẩn, đặc trưng chỉ dùng quá khứ để chống rò rỉ, chia tập cứng theo thời gian.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Trên 244.123 mẫu kiểm thử độc lập năm 2025: RF thắng DT ở cả 4 chỉ số. ROC-AUC tăng 0,0819 — nhiều nhất; Brier giảm mạnh nghĩa là xác suất đáng tin, điều kiện tiên quyết cho phân tầng 3 mức.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Từ feature_importances_: margin chiếm 60,6%, diem_thi 21,8% — hai đặc trưng chiếm hơn 82%. Nhóm đặc trưng lịch sử đóng vai trò hiệu chỉnh rủi 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Phần 4: xem giao diện thực tế đang chạy tại uniconnect.id.vn.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Trang chủ: thanh bộ lọc tra cứu nhanh toàn quốc với dữ liệu 2016–2025, các thẻ thống kê trực tiếp từ CSDL: 295 trường, 3.037 ngành, 240.483 dòng điểm, 3 tầng phân loại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Trang tra cứu: tìm theo tên trường, bộ lọc tỉnh thành/vùng miền/nhóm ngành/tổ hợp/phương thức, và bảng chuỗi điểm chuẩn đủ 10 năm cho từng nguyện vọng.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Trang danh sách trường: 295 trường dạng thẻ, mỗi trường có logo, mã, số ngành, điểm trung bình; bộ lọc theo vùng và tỉnh.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Trang gợi ý AI — trái tim của hệ thống: mỗi thẻ nguyện vọng hiển thị tổ hợp xét tuyển, khả năng đỗ (vd 95,12%), điểm bản, chuẩn mới nhất, độ dốc so với chuẩn, và đồ thị chuỗi 10 năm. Ba tầng An toàn / Vừa sức / Thử sức ứng với p ≥ 80%, 40–80%, &lt; 40%.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 Console: theo dõi quy mô dữ liệu, kiểm tra chất lượng (UTF-8 100%, 0 lỗi font), trạng thái mô hình AI, và nhật ký hoạt động gần nhất — nơi quản trị viên cập nhật dữ liệu và huấn luyện lại mô hình.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Tổng kết: 4 kết quả chính đều đạt hoặc vượt mục tiêu. Hướng phát triển: mở rộng phương thức xét tuyển, thu thập nhãn thật, tối ưu thứ tự nguyện vọng và kiểm thử tải trên đám mây.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xin hết phần trình bày. Em rất mong nhận được câu hỏi và góp ý của thầy cô và các bạn. Xin cảm ơn!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E28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 Connect · Đồ án TTNT AIP202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99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8B7B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ĐẠI HỌC KIẾN TRÚC ĐÀ NẴNG · KHOA CÔNG NGHỆ THÔNG TIN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HỆ THỐNG GỢI Ý NGUYỆN VỌNG ĐẠI HỌC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BẰNG TRÍ TUỆ NHÂN TẠO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spc="600" kern="0" dirty="0">
                <a:solidFill>
                  <a:srgbClr val="FBA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 CONNECT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đường đến đại học — Tra cứu điểm chuẩn 10 năm &amp; định hướng nguyện vọng bằng AI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13248" y="4526280"/>
            <a:ext cx="1371600" cy="27432"/>
          </a:xfrm>
          <a:prstGeom prst="rect">
            <a:avLst/>
          </a:prstGeom>
          <a:solidFill>
            <a:srgbClr val="FBAE4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thực hiện: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Ngọc Tân — 2351220242 — 23CT1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GVHD: 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TS. Đỗ Phúc Hảo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phần AIP202 — Trí tuệ nhân tạo · Đà Nẵng, ngày 29 tháng 10 năm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ĐẦU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Bài toán: chọn nguyện vọng như đặt cược 1 triệu thí sinh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6766560" cy="13716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57400"/>
            <a:ext cx="457200" cy="457200"/>
          </a:xfrm>
          <a:prstGeom prst="ellipse">
            <a:avLst/>
          </a:prstGeom>
          <a:solidFill>
            <a:srgbClr val="990000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180136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Dữ liệu phân tán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08760" y="2167128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chuẩn 10 năm rải rác trên hàng trăm cổng thông tin của từng trường, nhiều định dạng, khó so sánh.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172968"/>
            <a:ext cx="6766560" cy="13716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630168"/>
            <a:ext cx="457200" cy="457200"/>
          </a:xfrm>
          <a:prstGeom prst="ellipse">
            <a:avLst/>
          </a:prstGeom>
          <a:solidFill>
            <a:srgbClr val="99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77240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337413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Thiếu phân tích rủi ro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3739896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Thí sinh chỉ so sánh cảm tính với điểm chuẩn năm gần nhất, bỏ qua xu hướng và độ dao động.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745736"/>
            <a:ext cx="6766560" cy="13716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5202936"/>
            <a:ext cx="457200" cy="457200"/>
          </a:xfrm>
          <a:prstGeom prst="ellipse">
            <a:avLst/>
          </a:prstGeom>
          <a:solidFill>
            <a:srgbClr val="99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77240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08760" y="494690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Chiến lược thiếu an toàn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508760" y="5312664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toàn bộ nguyện vọng sát điểm thi hoặc quá cao — nguy cơ trượt toàn bộ danh sách.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498080" y="1600200"/>
            <a:ext cx="4206240" cy="4572000"/>
          </a:xfrm>
          <a:prstGeom prst="roundRect">
            <a:avLst>
              <a:gd name="adj" fmla="val 1304"/>
            </a:avLst>
          </a:prstGeom>
          <a:solidFill>
            <a:srgbClr val="0E2841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0" y="19659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BA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TRIỆU</a:t>
            </a:r>
            <a:endParaRPr lang="en-US" sz="5400" dirty="0"/>
          </a:p>
        </p:txBody>
      </p:sp>
      <p:sp>
        <p:nvSpPr>
          <p:cNvPr id="24" name="Text 22"/>
          <p:cNvSpPr/>
          <p:nvPr/>
        </p:nvSpPr>
        <p:spPr>
          <a:xfrm>
            <a:off x="777240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thí sinh mỗi mùa tuyển sinh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3657600" cy="18288"/>
          </a:xfrm>
          <a:prstGeom prst="rect">
            <a:avLst/>
          </a:prstGeom>
          <a:solidFill>
            <a:srgbClr val="2E4A68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giới hạn nguyện vọng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0" y="3767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trúng tuyển 1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772400" y="4343400"/>
            <a:ext cx="3657600" cy="18288"/>
          </a:xfrm>
          <a:prstGeom prst="rect">
            <a:avLst/>
          </a:prstGeom>
          <a:solidFill>
            <a:srgbClr val="2E4A68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0" y="4526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BA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năm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7772400" y="5074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 dữ liệu điểm chuẩn 2016–2025 mà hệ thống khai thác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ĐẦU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Bốn mục tiêu của đồ án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1274552" cy="1060704"/>
          </a:xfrm>
          <a:prstGeom prst="roundRect">
            <a:avLst>
              <a:gd name="adj" fmla="val 5172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73936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Dữ liệu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566160" y="1773936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thập &amp; chuẩn hóa ≥ 250 trường, ≥ 200.000 bản ghi điểm chuẩn 10 năm (2016–2025)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869680" y="1773936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6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 trường · 240.483 bản ghi — VƯỢT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2871216"/>
            <a:ext cx="11274552" cy="1060704"/>
          </a:xfrm>
          <a:prstGeom prst="roundRect">
            <a:avLst>
              <a:gd name="adj" fmla="val 5172"/>
            </a:avLst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999232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AI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66160" y="299923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đặc trưng; Random Forest đạt &gt; 70% Accuracy, ROC-AUC &gt; 0,80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869680" y="2999232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6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74,56% · ROC-AUC 0,8354 — ĐẠT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4096512"/>
            <a:ext cx="11274552" cy="1060704"/>
          </a:xfrm>
          <a:prstGeom prst="roundRect">
            <a:avLst>
              <a:gd name="adj" fmla="val 5172"/>
            </a:avLst>
          </a:prstGeom>
          <a:solidFill>
            <a:srgbClr val="F3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224528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tầng &amp; giải thích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422452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tầng An toàn / Vừa sức / Thử sức kèm lời giải thích minh bạch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869680" y="4224528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6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 hành ổn định — ĐẠT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5321808"/>
            <a:ext cx="11274552" cy="1060704"/>
          </a:xfrm>
          <a:prstGeom prst="roundRect">
            <a:avLst>
              <a:gd name="adj" fmla="val 5172"/>
            </a:avLst>
          </a:prstGeom>
          <a:solidFill>
            <a:srgbClr val="F3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449824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Ứng dụng web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66160" y="5449824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5.2 + MySQL, phản hồi &lt; 3 giây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869680" y="5449824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6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0,42 giây — ĐẠT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0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Thiết kế hệ thống &amp; cơ sở dữ liệu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0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bảng quan hệ · 27 đặc trưng · Cửa sổ trượt 10 năm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8B7B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khép kín 4 tầng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587752" cy="3017520"/>
          </a:xfrm>
          <a:prstGeom prst="roundRect">
            <a:avLst>
              <a:gd name="adj" fmla="val 2120"/>
            </a:avLst>
          </a:prstGeom>
          <a:solidFill>
            <a:srgbClr val="F3F4F6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2103120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0E284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031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THU THẬP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crawler + CSV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Tải, làm sạch tự động từ cổng tuyensinh247; chặn năm thiếu dữ liệu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44952" y="301752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A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24428" y="1828800"/>
            <a:ext cx="2587752" cy="3017520"/>
          </a:xfrm>
          <a:prstGeom prst="roundRect">
            <a:avLst>
              <a:gd name="adj" fmla="val 2120"/>
            </a:avLst>
          </a:prstGeom>
          <a:solidFill>
            <a:srgbClr val="F3F4F6"/>
          </a:solidFill>
          <a:ln/>
        </p:spPr>
      </p:sp>
      <p:sp>
        <p:nvSpPr>
          <p:cNvPr id="11" name="Shape 9"/>
          <p:cNvSpPr/>
          <p:nvPr/>
        </p:nvSpPr>
        <p:spPr>
          <a:xfrm>
            <a:off x="3653028" y="2103120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0E2841"/>
          </a:solidFill>
          <a:ln/>
        </p:spPr>
      </p:sp>
      <p:sp>
        <p:nvSpPr>
          <p:cNvPr id="12" name="Text 10"/>
          <p:cNvSpPr/>
          <p:nvPr/>
        </p:nvSpPr>
        <p:spPr>
          <a:xfrm>
            <a:off x="3653028" y="21031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CSDL MySQL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53028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bảng quan hệ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3028" y="32461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diem_chuan 240.483 dòng; cửa sổ trượt cua_so_nam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012180" y="301752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A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391656" y="1828800"/>
            <a:ext cx="2587752" cy="3017520"/>
          </a:xfrm>
          <a:prstGeom prst="roundRect">
            <a:avLst>
              <a:gd name="adj" fmla="val 2120"/>
            </a:avLst>
          </a:prstGeom>
          <a:solidFill>
            <a:srgbClr val="F3F4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620256" y="2103120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0E2841"/>
          </a:solidFill>
          <a:ln/>
        </p:spPr>
      </p:sp>
      <p:sp>
        <p:nvSpPr>
          <p:cNvPr id="18" name="Text 16"/>
          <p:cNvSpPr/>
          <p:nvPr/>
        </p:nvSpPr>
        <p:spPr>
          <a:xfrm>
            <a:off x="6620256" y="21031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MÔ HÌNH AI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620256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20256" y="32461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đặc trưng; model.pkl ~52 MB nạp 1 lần vào RAM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979408" y="3017520"/>
            <a:ext cx="384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A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358884" y="1828800"/>
            <a:ext cx="2587752" cy="3017520"/>
          </a:xfrm>
          <a:prstGeom prst="roundRect">
            <a:avLst>
              <a:gd name="adj" fmla="val 2120"/>
            </a:avLst>
          </a:prstGeom>
          <a:solidFill>
            <a:srgbClr val="F3F4F6"/>
          </a:solidFill>
          <a:ln/>
        </p:spPr>
      </p:sp>
      <p:sp>
        <p:nvSpPr>
          <p:cNvPr id="23" name="Shape 21"/>
          <p:cNvSpPr/>
          <p:nvPr/>
        </p:nvSpPr>
        <p:spPr>
          <a:xfrm>
            <a:off x="9587484" y="2103120"/>
            <a:ext cx="2194560" cy="566928"/>
          </a:xfrm>
          <a:prstGeom prst="roundRect">
            <a:avLst>
              <a:gd name="adj" fmla="val 8065"/>
            </a:avLst>
          </a:prstGeom>
          <a:solidFill>
            <a:srgbClr val="0E2841"/>
          </a:solidFill>
          <a:ln/>
        </p:spPr>
      </p:sp>
      <p:sp>
        <p:nvSpPr>
          <p:cNvPr id="24" name="Text 22"/>
          <p:cNvSpPr/>
          <p:nvPr/>
        </p:nvSpPr>
        <p:spPr>
          <a:xfrm>
            <a:off x="9587484" y="21031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WEB DJANGO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587484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9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 cứu + gợi ý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587484" y="32461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app: university, api, accounts, admissions, recommendation, quantri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5257800"/>
            <a:ext cx="11274552" cy="914400"/>
          </a:xfrm>
          <a:prstGeom prst="roundRect">
            <a:avLst>
              <a:gd name="adj" fmla="val 6000"/>
            </a:avLst>
          </a:prstGeom>
          <a:solidFill>
            <a:srgbClr val="FCEFD9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2578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Chịu lỗi: 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lỗi → tự chuyển xếp hạng theo margin, không bao giờ trả lỗi 500 cho người dùng.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DỮ LIỆU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Quy mô dữ liệu thực tế sau chuẩn hóa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130552" cy="1920240"/>
          </a:xfrm>
          <a:prstGeom prst="roundRect">
            <a:avLst>
              <a:gd name="adj" fmla="val 2857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874520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9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94360" y="2542032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đại học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07792"/>
            <a:ext cx="1856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phủ 3 miền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52344" y="1691640"/>
            <a:ext cx="2130552" cy="1920240"/>
          </a:xfrm>
          <a:prstGeom prst="roundRect">
            <a:avLst>
              <a:gd name="adj" fmla="val 2857"/>
            </a:avLst>
          </a:prstGeom>
          <a:solidFill>
            <a:srgbClr val="F3F4F6"/>
          </a:solidFill>
          <a:ln/>
        </p:spPr>
      </p:sp>
      <p:sp>
        <p:nvSpPr>
          <p:cNvPr id="9" name="Text 7"/>
          <p:cNvSpPr/>
          <p:nvPr/>
        </p:nvSpPr>
        <p:spPr>
          <a:xfrm>
            <a:off x="2889504" y="1874520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9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3.037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889504" y="2542032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Ngành đào tạo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89504" y="2907792"/>
            <a:ext cx="1856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nhóm ngành chuẩn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47488" y="1691640"/>
            <a:ext cx="2130552" cy="1920240"/>
          </a:xfrm>
          <a:prstGeom prst="roundRect">
            <a:avLst>
              <a:gd name="adj" fmla="val 2857"/>
            </a:avLst>
          </a:prstGeom>
          <a:solidFill>
            <a:srgbClr val="F3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5184648" y="1874520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9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184648" y="2542032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 hợp xét tuyển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84648" y="2907792"/>
            <a:ext cx="1856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A00, B00, D01…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42632" y="1691640"/>
            <a:ext cx="2130552" cy="1920240"/>
          </a:xfrm>
          <a:prstGeom prst="roundRect">
            <a:avLst>
              <a:gd name="adj" fmla="val 2857"/>
            </a:avLst>
          </a:prstGeom>
          <a:solidFill>
            <a:srgbClr val="F3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7479792" y="1874520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9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240.483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479792" y="2542032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ghi điểm chuẩn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79792" y="2907792"/>
            <a:ext cx="1856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năm 2016–2025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37776" y="1691640"/>
            <a:ext cx="2130552" cy="1920240"/>
          </a:xfrm>
          <a:prstGeom prst="roundRect">
            <a:avLst>
              <a:gd name="adj" fmla="val 2857"/>
            </a:avLst>
          </a:prstGeom>
          <a:solidFill>
            <a:srgbClr val="F3F4F6"/>
          </a:solidFill>
          <a:ln/>
        </p:spPr>
      </p:sp>
      <p:sp>
        <p:nvSpPr>
          <p:cNvPr id="21" name="Text 19"/>
          <p:cNvSpPr/>
          <p:nvPr/>
        </p:nvSpPr>
        <p:spPr>
          <a:xfrm>
            <a:off x="9774936" y="1874520"/>
            <a:ext cx="1856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9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100.363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774936" y="2542032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Chuỗi đặc trưng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774936" y="2907792"/>
            <a:ext cx="1856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nguyện vọng 1 dòng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977640"/>
            <a:ext cx="11274552" cy="2148840"/>
          </a:xfrm>
          <a:prstGeom prst="roundRect">
            <a:avLst>
              <a:gd name="adj" fmla="val 2553"/>
            </a:avLst>
          </a:prstGeom>
          <a:solidFill>
            <a:srgbClr val="0E2841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1605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A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Cửa sổ trượt — cơ chế cập nhật không cần ALTER TABLE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77240" y="45720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cua_so_nam ánh xạ vị trí cột 1–10 sang năm thực 2016–2025. Năm 2026, quản trị viên chỉ đổi ánh xạ qua giao diện: hiển thị tự trượt cửa sổ, AI dùng 6 năm gần nhất. Không sửa mã nguồn, không đổi cấu trúc bảng (yêu cầu CN-05).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0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AI &amp; kết quả thực nghiệm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0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đặc trưng · nhãn giả lập đối xứng · kiểm thử độc lập năm 2025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8B7B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đặc trưng và chiến lược sinh nhãn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86400" cy="4480560"/>
          </a:xfrm>
          <a:prstGeom prst="roundRect">
            <a:avLst>
              <a:gd name="adj" fmla="val 1224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BỘ 27 ĐẶC TRƯNG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377440"/>
            <a:ext cx="1234440" cy="457200"/>
          </a:xfrm>
          <a:prstGeom prst="roundRect">
            <a:avLst>
              <a:gd name="adj" fmla="val 8000"/>
            </a:avLst>
          </a:prstGeom>
          <a:solidFill>
            <a:srgbClr val="0E284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377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số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148840" y="233172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margin, diem_thi, diem_moi_nhat, diem_tb, xu_huong, bien_dong, so_nam_co_dl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3035808"/>
            <a:ext cx="1234440" cy="457200"/>
          </a:xfrm>
          <a:prstGeom prst="roundRect">
            <a:avLst>
              <a:gd name="adj" fmla="val 8000"/>
            </a:avLst>
          </a:prstGeom>
          <a:solidFill>
            <a:srgbClr val="0E284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03580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one-hot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148840" y="299008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ngành (CNTT, Kinh tế, Y dược…)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" y="3694176"/>
            <a:ext cx="1234440" cy="457200"/>
          </a:xfrm>
          <a:prstGeom prst="roundRect">
            <a:avLst>
              <a:gd name="adj" fmla="val 8000"/>
            </a:avLst>
          </a:prstGeom>
          <a:solidFill>
            <a:srgbClr val="0E284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69417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148840" y="3648456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vùng miền Bắc / Trung / Nam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4352544"/>
            <a:ext cx="1234440" cy="457200"/>
          </a:xfrm>
          <a:prstGeom prst="roundRect">
            <a:avLst>
              <a:gd name="adj" fmla="val 8000"/>
            </a:avLst>
          </a:prstGeom>
          <a:solidFill>
            <a:srgbClr val="0E284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35254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148840" y="4306824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thức: thi THPT, học bạ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7240" y="51206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điểm thí sinh − chuẩn mới nhất — đặc trưng trung tâm (60,6% đóng góp).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1691640"/>
            <a:ext cx="5468112" cy="4480560"/>
          </a:xfrm>
          <a:prstGeom prst="roundRect">
            <a:avLst>
              <a:gd name="adj" fmla="val 1224"/>
            </a:avLst>
          </a:prstGeom>
          <a:solidFill>
            <a:srgbClr val="F3F4F6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SINH NHÃN GIẢ LẬP &amp; CHỐNG RÒ RỈ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83680" y="23317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điểm chuẩn C của năm t là “sự thật tuyển sinh”: thí sinh giả lập X ≥ C thì đỗ. 11 mức DELTAS đối xứng (±0,2 … ±3,0) tạo mẫu đỗ/trượt cân bằng.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83680" y="35661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 trưng của năm t chỉ tính từ các năm &lt; t — ngăn tuyệt đối data leakage.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83680" y="4343400"/>
            <a:ext cx="4846320" cy="1417320"/>
          </a:xfrm>
          <a:prstGeom prst="roundRect">
            <a:avLst>
              <a:gd name="adj" fmla="val 3871"/>
            </a:avLst>
          </a:prstGeom>
          <a:solidFill>
            <a:srgbClr val="0E2841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434340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A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cứng theo thời gian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Huấn luyện 2021–2024 (913.924 mẫu)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độc lập 2025 (244.123 mẫu)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vượt trội Decision Tree trên 244.123 mẫu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5669280" cy="2926080"/>
        </p:xfrm>
        <a:graphic>
          <a:graphicData uri="http://schemas.openxmlformats.org/drawingml/2006/table">
            <a:tbl>
              <a:tblPr/>
              <a:tblGrid>
                <a:gridCol w="1889760"/>
                <a:gridCol w="1889760"/>
                <a:gridCol w="1889760"/>
              </a:tblGrid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số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0,7214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99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0,7456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0,7535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99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0,8354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Brier score ↓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0,2550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99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0,1763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(lớp Đỗ)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0,7183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99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0,7493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46520" y="1783080"/>
            <a:ext cx="5285232" cy="123444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</p:spPr>
      </p:sp>
      <p:sp>
        <p:nvSpPr>
          <p:cNvPr id="6" name="Text 3"/>
          <p:cNvSpPr/>
          <p:nvPr/>
        </p:nvSpPr>
        <p:spPr>
          <a:xfrm>
            <a:off x="6675120" y="192024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6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+0,0819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412480" y="1892808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tăng
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 năng xếp hạng Đỗ/Trượt nhờ trung bình 100 cây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46520" y="3172968"/>
            <a:ext cx="5285232" cy="123444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</p:spPr>
      </p:sp>
      <p:sp>
        <p:nvSpPr>
          <p:cNvPr id="9" name="Text 6"/>
          <p:cNvSpPr/>
          <p:nvPr/>
        </p:nvSpPr>
        <p:spPr>
          <a:xfrm>
            <a:off x="6675120" y="3310128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6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−0,0787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412480" y="3282696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giảm
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suất hiệu chuẩn tốt — quan trọng cho phân tầng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46520" y="4562856"/>
            <a:ext cx="5285232" cy="1234440"/>
          </a:xfrm>
          <a:prstGeom prst="roundRect">
            <a:avLst>
              <a:gd name="adj" fmla="val 4444"/>
            </a:avLst>
          </a:prstGeom>
          <a:solidFill>
            <a:srgbClr val="F3F4F6"/>
          </a:solidFill>
          <a:ln/>
        </p:spPr>
      </p:sp>
      <p:sp>
        <p:nvSpPr>
          <p:cNvPr id="12" name="Text 9"/>
          <p:cNvSpPr/>
          <p:nvPr/>
        </p:nvSpPr>
        <p:spPr>
          <a:xfrm>
            <a:off x="6675120" y="4700016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96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+0,0459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8412480" y="4672584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Đỗ
</a:t>
            </a:r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thêm cơ hội đỗ, Recall Trượt giữ ≈ 0,80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5029200"/>
            <a:ext cx="11274552" cy="1143000"/>
          </a:xfrm>
          <a:prstGeom prst="roundRect">
            <a:avLst>
              <a:gd name="adj" fmla="val 4800"/>
            </a:avLst>
          </a:prstGeom>
          <a:solidFill>
            <a:srgbClr val="FCEFD9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502920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 quan trọng nhất: 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 ích lớn nhất nằm ở chất lượng xếp hạng và hiệu chuẩn xác suất — đúng thứ hệ thống cần, vì phân tầng phụ thuộc toàn bộ vào giá trị 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 và diem_thi quyết định hơn 82% dự đoán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737360"/>
          <a:ext cx="66751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737360"/>
            <a:ext cx="4279392" cy="4389120"/>
          </a:xfrm>
          <a:prstGeom prst="roundRect">
            <a:avLst>
              <a:gd name="adj" fmla="val 1282"/>
            </a:avLst>
          </a:prstGeom>
          <a:solidFill>
            <a:srgbClr val="F3F4F6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DIỄN GIẢCH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0" y="2377440"/>
            <a:ext cx="3657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 (0,606)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khoảng cách năng lực so với chuẩn mới nhất, trực giác tuyển sinh được dữ liệu xác nhận.
</a:t>
            </a:r>
            <a:pPr indent="0" marL="0">
              <a:buNone/>
            </a:pPr>
            <a:r>
              <a:rPr lang="en-US" sz="1200" b="1" dirty="0">
                <a:solidFill>
                  <a:srgbClr val="99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diem_thi (0,218)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năng lực tuyệt đối của thí sinh.
</a:t>
            </a:r>
            <a:pPr indent="0" marL="0">
              <a:buNone/>
            </a:pPr>
            <a:r>
              <a:rPr lang="en-US" sz="1200" b="1" dirty="0">
                <a:solidFill>
                  <a:srgbClr val="0E28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lịch sử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(diem_moi_nhat, diem_tb, bien_dong, xu_huong) — hiệu chỉnh rủi ro, phân biệt các ngành cùng margin nhưng độ ổn định khác nhau.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F0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Giao diện thực tế của hệ thống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0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uniconnect.id.vn — Django 5.2 · Tailwind CSS · MySQL 8.0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8B7B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GIAO DIỆN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Trang chủ — tra cứu điểm chuẩn 10 năm &amp; định hướng AI</a:t>
            </a:r>
            <a:endParaRPr lang="en-US" sz="3000" dirty="0"/>
          </a:p>
        </p:txBody>
      </p:sp>
      <p:pic>
        <p:nvPicPr>
          <p:cNvPr id="4" name="Image 0" descr="uniconnect-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248" y="1572768"/>
            <a:ext cx="8229600" cy="43699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9893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lọc đa chiều: tên trường/ngành · phương thức · khu vực · tổ hợp — cùng 4 chỉ số hệ thống trực tiếp.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GIAO DIỆN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 cứu điểm chuẩn — chuỗi 10 năm từng nguyện vọng</a:t>
            </a:r>
            <a:endParaRPr lang="en-US" sz="3000" dirty="0"/>
          </a:p>
        </p:txBody>
      </p:sp>
      <p:pic>
        <p:nvPicPr>
          <p:cNvPr id="4" name="Image 0" descr="uniconnect-p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248" y="1572768"/>
            <a:ext cx="8229600" cy="46579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1722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điểm chuẩn đầy đủ 10 năm (thang 30) kèm bộ lọc thông minh đa chiều và gợi ý nhanh.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GIAO DIỆN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Danh sách trường — 295 đại học trên toàn quốc</a:t>
            </a:r>
            <a:endParaRPr lang="en-US" sz="3000" dirty="0"/>
          </a:p>
        </p:txBody>
      </p:sp>
      <p:pic>
        <p:nvPicPr>
          <p:cNvPr id="4" name="Image 0" descr="uniconnect-p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248" y="1572768"/>
            <a:ext cx="8229600" cy="47896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2636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Thẻ trường kèm logo, mã tuyển sinh, số ngành và điểm chuẩn trung bình; lọc theo vùng miền, tỉnh thành.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GIAO DIỆN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Gợi ý nguyện vọng AI — phân tầng An toàn · Vừa sức · Thử sức</a:t>
            </a:r>
            <a:endParaRPr lang="en-US" sz="3000" dirty="0"/>
          </a:p>
        </p:txBody>
      </p:sp>
      <p:pic>
        <p:nvPicPr>
          <p:cNvPr id="4" name="Image 0" descr="uniconnect-goi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248" y="1572768"/>
            <a:ext cx="8229600" cy="44645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1722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nguyện vọng xếp theo xác suất đỗ; thẻ nguyện vọng hiển thị khả năng đỗ %, khoảng cách điểm và chuỗi 10 năm.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GIAO DIỆN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Console — giám sát CSDL, chất lượng và mô hình AI</a:t>
            </a:r>
            <a:endParaRPr lang="en-US" sz="3000" dirty="0"/>
          </a:p>
        </p:txBody>
      </p:sp>
      <p:pic>
        <p:nvPicPr>
          <p:cNvPr id="4" name="Image 0" descr="uniconnect-p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4248" y="1572768"/>
            <a:ext cx="8229600" cy="41970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9436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240.483 dòng Fact · self-check chất lượng · trạng thái AI · nhật ký 10 lần gợi ý gần nhất.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8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luận &amp; hướng phát triển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486400" cy="4480560"/>
          </a:xfrm>
          <a:prstGeom prst="roundRect">
            <a:avLst>
              <a:gd name="adj" fmla="val 1224"/>
            </a:avLst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6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ĐÃ LÀM ĐƯỢC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6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8720" y="23774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CSDL thật 10 năm: 295 trường · 240.483 bản ghi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3035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6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303580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Accuracy 74,56% · ROC-AUC 0,8354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3694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6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369417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tầng 3 mức minh bạch, có lời giải thích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4352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6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435254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hoàn chỉnh, phản hồi 0,42 s, không lỗi 500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5074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học: chất lượng dữ liệu đóng góp nhiều hơn tinh chỉnh siêu tham số; chia tập theo thời gian là điều kiện bắt buộc.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63640" y="1691640"/>
            <a:ext cx="5468112" cy="4480560"/>
          </a:xfrm>
          <a:prstGeom prst="roundRect">
            <a:avLst>
              <a:gd name="adj" fmla="val 1224"/>
            </a:avLst>
          </a:prstGeom>
          <a:solidFill>
            <a:srgbClr val="0E2841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1920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AE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HƯỚNG PHÁT TRIỂN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83680" y="237744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phương thức  —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năng lực &amp; tư duy — chuẩn hóa thang điểm tương đương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83680" y="331012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Nhãn đỗ/trượt thật  —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Khảo sát thí sinh sau mỗi mùa, thay nhãn giả lập DELTAS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83680" y="4242816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thứ tự NV  —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thuyết trò chơi / quy hoạch tuyến tính tối đa hóa xác suất trúng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0" y="5175504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tải &amp; đám mây  —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 tải đồng thời mùa cao điểm, auto-scaling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CẢM ƠN THẦY CÔ VÀ CÁC BẠN ĐÃ LẮNG NGHE!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Rất mong nhận được câu hỏi và góp ý của hội đồng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13248" y="4206240"/>
            <a:ext cx="1371600" cy="27432"/>
          </a:xfrm>
          <a:prstGeom prst="rect">
            <a:avLst/>
          </a:prstGeom>
          <a:solidFill>
            <a:srgbClr val="FBAE4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434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AE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Nguyễn Ngọc Tân — 2351220242 — 23CT1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uniconnect.id.vn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65992" y="651052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Hệ thống gợi ý nguyện vọng đại học bằng AI (Uni Connect)</dc:title>
  <dc:subject>PptxGenJS Presentation</dc:subject>
  <dc:creator>Nguyễn Ngọc Tân</dc:creator>
  <cp:lastModifiedBy>Nguyễn Ngọc Tân</cp:lastModifiedBy>
  <cp:revision>1</cp:revision>
  <dcterms:created xsi:type="dcterms:W3CDTF">2026-10-29T15:48:37Z</dcterms:created>
  <dcterms:modified xsi:type="dcterms:W3CDTF">2026-10-29T15:48:37Z</dcterms:modified>
</cp:coreProperties>
</file>